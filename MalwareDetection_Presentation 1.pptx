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220D0-8B2D-42EA-938F-EC93E48AE09C}" v="339" dt="2026-06-15T19:03:51.892"/>
    <p1510:client id="{D5FB63DE-28AB-4E7E-A5E9-39EF497752E6}" v="28" dt="2026-06-15T19:18:05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F8A70-F68D-4E02-8924-4BC1077297CF}" type="datetimeFigureOut"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7594B-09F4-4A7C-AE95-F91F59EABF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5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1917735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2213A"/>
          </a:solidFill>
          <a:ln w="12700">
            <a:solidFill>
              <a:srgbClr val="122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0" y="182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RESEARCH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91230"/>
            <a:ext cx="5029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AABBCC"/>
                </a:solidFill>
                <a:latin typeface="Calibri"/>
                <a:ea typeface="Calibri"/>
                <a:cs typeface="Calibri"/>
              </a:rPr>
              <a:t>Department of Computer Science &amp; Engineering (UIU)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551975"/>
            <a:ext cx="8229600" cy="27432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Detection Using Data Mining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Techniques: A Comparative Study of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Algorithms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3794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and Predictive Modeling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43434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343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June 16, 2026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577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Detection Research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96615" y="279634"/>
            <a:ext cx="1828800" cy="32004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RESEARCH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548640" cy="54864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64069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i="1" dirty="0">
                <a:solidFill>
                  <a:srgbClr val="1B2A4A"/>
                </a:solidFill>
              </a:rPr>
              <a:t>DATA MINING TECHNIQUES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Introduction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0156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0208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Threat Landscape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76288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Signature-Based Detection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1945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50208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Literature Review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219456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27648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76288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Feature Overview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30175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0156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5020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0175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2764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7628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8404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24128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Discriminative Features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91840" y="38404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401568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950208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 and Future Directions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38404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27648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76288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The Slide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880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80369" y="178091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18739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270616"/>
            <a:ext cx="1828800" cy="3657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825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Kazi Golam Sazid Hasan (0112310072)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Rafid Remal (0112310071)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Yousuf Nobin (011222312)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7315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41248"/>
            <a:ext cx="64008" cy="923544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41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 &amp;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project introduction, problem statement, research objectives, and a comprehensive literature review.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167128"/>
            <a:ext cx="64008" cy="923544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67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Methodology &amp;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514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the data preparation process and the implementation of the complete data mining workflow.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493008"/>
            <a:ext cx="64008" cy="923544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493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Analysis &amp; Conclusion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840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a comparative analysis of results, key findings, and outlines potential directions for future research.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0" cy="50794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sheer volume and adaptive nature of modern threats highlight the profound inadequacy of traditional, reactive detection mechanisms.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3840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is not an option, but an urgent necessity.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548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658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450K+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74904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Global Threat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62763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malware samples are identified daily, contributing to a total of over 1.3 billion known specimens as of 2023.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6517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27614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$10B+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749040" y="3429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Financial Impact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373075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High-profile ransomware like WannaCry &amp; NotPetya inflicted over $10 billion in damages, disrupting critical sectors in 150+ countries.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4754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AV-TEST Institute &amp; Cybersecurity Ventures Reports (2017–2023)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0292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822960"/>
            <a:ext cx="457200" cy="54864"/>
          </a:xfrm>
          <a:prstGeom prst="rect">
            <a:avLst/>
          </a:prstGeom>
          <a:solidFill>
            <a:srgbClr val="D4A957"/>
          </a:solidFill>
          <a:ln w="12700">
            <a:solidFill>
              <a:srgbClr val="D4A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Signature-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66160" y="54864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66160" y="676656"/>
            <a:ext cx="54864" cy="16642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6400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Nature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05156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are generated only after malware discovery and analysis.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0" y="149047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critical "detection gap" for novel threats and zero-day exploits.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192938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against attacks operating undetected during their initial outbreak.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265176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2779776"/>
            <a:ext cx="54864" cy="16642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7432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by Obfuscation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15468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and metamorphic malware dynamically alter their code.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0" y="359359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matching fails against these constantly evolving variants.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40325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malware families can bypass traditional defenses through code packing.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" cy="54864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outlines five core objectives to evaluate and compare data mining techniques for effective malware detection.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301752"/>
            <a:ext cx="45720" cy="67665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017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2834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6126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comprehensive, end-to-end data mining pipeline for malware classification on a real-world dataset.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1161288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234440"/>
            <a:ext cx="45720" cy="67665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234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12161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154533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assess the performance of Decision Tree, Random Forest, and Naïve Bayes classifiers.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0" y="2093976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167128"/>
            <a:ext cx="45720" cy="67665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1671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2148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2478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most influential software features for distinguishing malicious programs from benign ones.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3026664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099816"/>
            <a:ext cx="45720" cy="67665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09981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60520" y="30815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Practical Viability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341071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suitability and efficiency of each algorithm for deployment in real-world endpoint security applications.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0" y="3959352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4032504"/>
            <a:ext cx="45720" cy="67665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0325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60520" y="40142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Reproducibility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60520" y="43434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well-documented code and a structured paper to ensure all experimental findings are verifiable and transparent.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5735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28929"/>
            <a:ext cx="502920" cy="54864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96981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seminal works that established key techniques and benchmarks in data-driven malware analysis, forming the bedrock of modern cyber defense research.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747525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355973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achieved by LightGBM on the EMBER dataset, showcasing the efficacy of modern standardized benchmarks.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201168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292608"/>
            <a:ext cx="45720" cy="822960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651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Kolter &amp; Maloof (2006): Byte N-Gram Analysis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20440" y="5852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Pioneered using n-gram byte sequences for malware classification, achieving over 97% accuracy.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88696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Established statistical regularities in executables as a foundational feature approach.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389888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481328"/>
            <a:ext cx="45720" cy="822960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4538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et al. (2017): Survey on Data Mining Techniques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20440" y="177393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Reviewed 200+ papers, identifying a trend towards robust ensemble methods like Random Forest.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0440" y="20756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Highlighted the crucial role of effective feature selection for high-dimensional data.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2578608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2670048"/>
            <a:ext cx="45720" cy="822960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6426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Dataset (Anderson &amp; Roth, 2018)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20440" y="29626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Released an open-source dataset of 1 million PE files, standardizing malware research.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20440" y="32644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Enabled reproducible benchmarks and comparative performance analysis across models.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3767328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858768"/>
            <a:ext cx="45720" cy="822960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83133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(Chawla et al., 2002): Class Imbalance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20440" y="41513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Introduced the Synthetic Minority Over-sampling Technique to mitigate class imbalance.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20440" y="44531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critical preprocessing step that consistently improves minority class recall.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402" y="29100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060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BIG 2015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93095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10,868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797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74929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2,381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300181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7181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432795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FAMILIES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  Feature Categories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6400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758952"/>
            <a:ext cx="347472" cy="347472"/>
          </a:xfrm>
          <a:prstGeom prst="ellipse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758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7498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N-grams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117043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Derived from raw binary file frequency counts.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151790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Includes 4-gram, 8-gram, and 16-gram variations.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21945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2313432"/>
            <a:ext cx="347472" cy="347472"/>
          </a:xfrm>
          <a:prstGeom prst="ellipse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230428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Opcodes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272491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Instruction opcode frequencies from disassembled code.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307238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Incorporates relevant PE section metadata.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0" cy="50794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502920" cy="45720"/>
          </a:xfrm>
          <a:prstGeom prst="rect">
            <a:avLst/>
          </a:prstGeom>
          <a:solidFill>
            <a:srgbClr val="D4A957"/>
          </a:solidFill>
          <a:ln w="12700">
            <a:solidFill>
              <a:srgbClr val="D4A9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70:1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severe ratio was found between the most and least prevalent malware families, demanding specific mitigation strategies to prevent model bias.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36576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475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06240" y="4572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Discovery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8229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identified 3.7% missing values, concentrated in 148 ASM-level features due to incomplete disassembly processes.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87452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06240" y="19659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Feature Collinearity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3317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heatmap exposed that 312 feature pairs exhibited Pearson correlation coefficients exceeding 0.90, indicating high multicollinearity.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38328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11880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06240" y="34747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3840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187 features with near-zero variance (&lt;0.001), suggesting they possess limited discriminative power for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4524" y="5458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79970" y="1583210"/>
            <a:ext cx="502920" cy="54864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201168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33699" y="3108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1528" y="310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933F"/>
                </a:solidFill>
              </a:rPr>
              <a:t>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49040" y="2926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62179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3.7% missing values with median imputation, effective for skewed data distributions.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133856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3699" y="124358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1528" y="1243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933F"/>
                </a:solidFill>
              </a:rPr>
              <a:t>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12252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49040" y="15544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 and RFE reduced 2,381 features to the top 500 for optimal efficiency.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2066544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33699" y="21762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1528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933F"/>
                </a:solidFill>
              </a:rPr>
              <a:t>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21579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49040" y="248716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(k=5) was applied to the training set, oversampling minority classes to balance the data.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17520" y="2999232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33699" y="31089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1528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933F"/>
                </a:solidFill>
              </a:rPr>
              <a:t>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49040" y="30906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Normalization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49040" y="341985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 scaled all features to a [0,1] range, ensuring classifier compatibility.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17520" y="3931920"/>
            <a:ext cx="5760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33699" y="40416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41528" y="4041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933F"/>
                </a:solidFill>
              </a:rPr>
              <a:t>⊟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4904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49040" y="43525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70/30 stratified split yielded a training set (n≈7.6k) and a testing set (n≈3.2k).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902" y="26011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97.84%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6746" y="1913135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Random Forest — Peak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6746" y="2370335"/>
            <a:ext cx="3017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3906" y="2416055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</a:t>
            </a: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Achieved superior performance with its robust ensemble method, leading in both accuracy and F1-Score.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6746" y="3147575"/>
            <a:ext cx="3017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906" y="3193295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</a:t>
            </a: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Offered an excellent efficiency trade-off, ideal for resource-limited scenarios with its fast training.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6746" y="3924815"/>
            <a:ext cx="3017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906" y="3970535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</a:t>
            </a: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Delivered the fastest training but lowest accuracy, hindered by its feature independence assumption.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9423" y="1396931"/>
            <a:ext cx="13258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423" y="1396931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ALGORITHM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45303" y="1396931"/>
            <a:ext cx="7772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303" y="1396931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ACCURACY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22543" y="1396931"/>
            <a:ext cx="7772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543" y="1396931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F1-SCORE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99783" y="1396931"/>
            <a:ext cx="749808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9783" y="1396931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ROC-AUC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49591" y="1396931"/>
            <a:ext cx="9144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9591" y="1396931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TRAIN TIME (S)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963991" y="1396931"/>
            <a:ext cx="10332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3991" y="1396931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 TIME (MS)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19423" y="1799267"/>
            <a:ext cx="1325880" cy="566928"/>
          </a:xfrm>
          <a:prstGeom prst="rect">
            <a:avLst/>
          </a:prstGeom>
          <a:solidFill>
            <a:srgbClr val="EBF3F5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423" y="1799267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</a:rPr>
              <a:t>Random Forest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45303" y="1799267"/>
            <a:ext cx="777240" cy="566928"/>
          </a:xfrm>
          <a:prstGeom prst="rect">
            <a:avLst/>
          </a:prstGeom>
          <a:solidFill>
            <a:srgbClr val="EBF3F5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303" y="1799267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</a:rPr>
              <a:t>97.84%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22543" y="1799267"/>
            <a:ext cx="777240" cy="566928"/>
          </a:xfrm>
          <a:prstGeom prst="rect">
            <a:avLst/>
          </a:prstGeom>
          <a:solidFill>
            <a:srgbClr val="EBF3F5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2543" y="1799267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</a:rPr>
              <a:t>0.976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99783" y="1799267"/>
            <a:ext cx="749808" cy="566928"/>
          </a:xfrm>
          <a:prstGeom prst="rect">
            <a:avLst/>
          </a:prstGeom>
          <a:solidFill>
            <a:srgbClr val="EBF3F5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9783" y="1799267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</a:rPr>
              <a:t>0.994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049591" y="1799267"/>
            <a:ext cx="914400" cy="566928"/>
          </a:xfrm>
          <a:prstGeom prst="rect">
            <a:avLst/>
          </a:prstGeom>
          <a:solidFill>
            <a:srgbClr val="EBF3F5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9591" y="1799267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</a:rPr>
              <a:t>187.6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63991" y="1799267"/>
            <a:ext cx="1033272" cy="566928"/>
          </a:xfrm>
          <a:prstGeom prst="rect">
            <a:avLst/>
          </a:prstGeom>
          <a:solidFill>
            <a:srgbClr val="EBF3F5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63991" y="1799267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</a:rPr>
              <a:t>1.82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19423" y="2439347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9423" y="2439347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Decision Tree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45303" y="2439347"/>
            <a:ext cx="777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303" y="2439347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95.21%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22543" y="2439347"/>
            <a:ext cx="777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22543" y="2439347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0.939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99783" y="2439347"/>
            <a:ext cx="7498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9783" y="2439347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0.981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9591" y="2439347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9591" y="2439347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14.3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63991" y="2439347"/>
            <a:ext cx="1033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63991" y="2439347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0.04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19423" y="3079427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19423" y="3079427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Naive Bayes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45303" y="3079427"/>
            <a:ext cx="777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45303" y="3079427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88.47%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22543" y="3079427"/>
            <a:ext cx="777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22543" y="3079427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0.867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99783" y="3079427"/>
            <a:ext cx="7498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9783" y="3079427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0.951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49591" y="3079427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9591" y="3079427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2.1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63991" y="3079427"/>
            <a:ext cx="10332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63991" y="3079427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</a:rPr>
              <a:t>0.04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08441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Discriminative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807176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highlights critical attributes for distinguishing malware. These features collectively form a robust foundation for building effective classification models based on static properties of executables.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0" y="457200"/>
            <a:ext cx="45720" cy="4389120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201168"/>
            <a:ext cx="2423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274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0" y="704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N-grams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06984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discriminators reflecting unique byte sequence statistics that capture low-level code patterns.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0" y="192024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920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byte_4gram_freq_0xFF0F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0" y="201168"/>
            <a:ext cx="2423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74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0.0287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704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Frequencies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106984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indicators of malicious behavior, such as stack manipulation or dynamic API resolution.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9202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opcode_freq_push (Score: 0.0287)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2697480"/>
            <a:ext cx="2423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Entropy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3200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entropy, especially in the `.text` section, often signifies the presence of packed or encrypted code.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0" y="4416552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441655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 section analysis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0" y="2697480"/>
            <a:ext cx="2423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27706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0.0207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92240" y="3200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Counts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5661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differentiates executables based on their reliance on and number of external library functions.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92240" y="4416552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F0F2F6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41655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Imports (Score: 0.0207)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Conclusions and Future Directions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EB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474720" cy="3657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9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40280" y="1389888"/>
            <a:ext cx="210312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Random Forest Superiority: Achieved the highest performance, establishing it as the preferred algorithm for malware classification.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Efficiency:</a:t>
            </a: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Offered an excellent accuracy-efficiency trade-off, ideal for resource-constrained environments (13x faster training).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Effectiveness:</a:t>
            </a: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Byte n-grams, opcode frequencies, and section entropy proved most discriminative for detection.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Validation:</a:t>
            </a: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Significantly improved minority-class recall, confirming its vital role in handling imbalanced datasets.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280160"/>
            <a:ext cx="3474720" cy="36576"/>
          </a:xfrm>
          <a:prstGeom prst="rect">
            <a:avLst/>
          </a:prstGeom>
          <a:solidFill>
            <a:srgbClr val="D4A957"/>
          </a:solidFill>
          <a:ln w="12700">
            <a:solidFill>
              <a:srgbClr val="D4A9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444752"/>
            <a:ext cx="256032" cy="256032"/>
          </a:xfrm>
          <a:prstGeom prst="ellipse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417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CNNs for raw byte analysis and RNNs for API call sequences.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993392"/>
            <a:ext cx="256032" cy="256032"/>
          </a:xfrm>
          <a:prstGeom prst="ellipse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965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Graph Neural Networks (GNNs) to malware function call graphs.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542032"/>
            <a:ext cx="256032" cy="256032"/>
          </a:xfrm>
          <a:prstGeom prst="ellipse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model robustness against adversarial attacks and develop defenses.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3090672"/>
            <a:ext cx="256032" cy="256032"/>
          </a:xfrm>
          <a:prstGeom prst="ellipse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063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static features with dynamic behavioral analysis for a hybrid approach.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639312"/>
            <a:ext cx="256032" cy="256032"/>
          </a:xfrm>
          <a:prstGeom prst="ellipse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611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validated models into lightweight endpoint agents for real-world integration.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2926080" cy="50794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54864"/>
          </a:xfrm>
          <a:prstGeom prst="rect">
            <a:avLst/>
          </a:prstGeom>
          <a:solidFill>
            <a:srgbClr val="D4A957"/>
          </a:solidFill>
          <a:ln w="12700">
            <a:solidFill>
              <a:srgbClr val="D4A9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1615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B8933F">
              <a:alpha val="80000"/>
            </a:srgbClr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💬  Questions &amp; Answers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0" y="4572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sincerely appreciate your time and engagement during our presentation on </a:t>
            </a: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Detection Using Data Mining Techniques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study was a collaborative effort to enhance cybersecurity defenses, and we thank you for the opportunity to share our insights.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now happy to take any questions you may have.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834640"/>
            <a:ext cx="5486400" cy="36576"/>
          </a:xfrm>
          <a:prstGeom prst="rect">
            <a:avLst/>
          </a:prstGeom>
          <a:solidFill>
            <a:srgbClr val="B8933F"/>
          </a:solidFill>
          <a:ln w="12700">
            <a:solidFill>
              <a:srgbClr val="B89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971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401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Kazi Golam Sazid Hasan (0112310072)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37856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Rafid Remal (0112310071)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0" y="41696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Yousuf Nobin (011222312)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 Detection Using Data Mining Techniques</dc:title>
  <dc:subject>PptxGenJS Presentation</dc:subject>
  <dc:creator>PptxGenJS</dc:creator>
  <cp:lastModifiedBy>PptxGenJS</cp:lastModifiedBy>
  <cp:revision>87</cp:revision>
  <dcterms:created xsi:type="dcterms:W3CDTF">2026-06-15T18:40:44Z</dcterms:created>
  <dcterms:modified xsi:type="dcterms:W3CDTF">2026-06-15T19:18:45Z</dcterms:modified>
</cp:coreProperties>
</file>